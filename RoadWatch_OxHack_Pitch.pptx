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Cities have far more streets than inspectors. Brooklyn has 23,448 street blocks, and in a typical week fewer than one in a hundred gets a pothole report. RoadWatch asks: can historical evidence show which blocks are most likely to get one next week, so a fixed inspection budget goes where it is needed?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used only real public data: over seventy-one thousand Brooklyn pothole reports from NYC 311 since 2020, the city's official street centreline for block shapes and road attributes, and NOAA weather. The hard part is location: thirty-nine percent of reports name an intersection or a vague stretch of street, so they could belong to several blocks, typically four.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download is archived unchanged with checksums and validated, and an offline rebuild reproduces every table byte for byte. Reports are matched to blocks by street names and coordinates; ambiguous ones keep all their candidates. Weeks with too many unlocatable reports are marked unknown, never zero. And every feature is point-in-time: only 311 data published two days before the forecast, and weather from five days before.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model is LightGBM: gradient-boosted trees over 38 features, including recent report history, neighbouring blocks and road attributes like length and lanes. To test it honestly, we replayed history: sixteen monthly retrains from July 2025, each trained only on the past. The main comparison is a historical-rate baseline, which ranks blocks by how often they have been reported before.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Across 67 held-out weeks with a 235-block list, LightGBM caught 13.4 percent of next week's reports, against 8.4 for the historical rate and 1 percent for a random list. Precision rose from 6.6 to 9.5 percent: a gain of 2.3 to 3.4 points, with 95 percent confidence. That is the strict target, where each report counts on exactly one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Turning ranks into decisions is deliberately simple: choose a weekly capacity, here 235 blocks, and take the top-ranked ones. Let's see it in the dashboard.</a:t>
            </a:r>
          </a:p>
          <a:p/>
          <a:p>
            <a:r>
              <a:t>[LIVE DEMO, 2:40–3:43: Presenter 2 switches to the dashboard]</a:t>
            </a:r>
          </a:p>
          <a:p>
            <a:r>
              <a:t>This is the week of 16 March 2026, a retrospective example, not a live recommendation. The blue lines are the 235 blocks to inspect, ranked in the table.</a:t>
            </a:r>
          </a:p>
          <a:p>
            <a:r>
              <a:t>If the budget doubles to 2 percent, the list grows to 469 blocks.</a:t>
            </a:r>
          </a:p>
          <a:p>
            <a:r>
              <a:t>Every block shows its reasons: 17th Avenue had 59 reports naming it or its end intersections in the past year, 18 in the last month. That is evidence, not proof of a defect.</a:t>
            </a:r>
          </a:p>
          <a:p>
            <a:r>
              <a:t>One subtlety: what counts as catching a report depends on what an inspection covers. If inspecting a block also covers its end intersections, spreading inspections across intersections looks best. Without that assumption the strict list wins, so it is our default.</a:t>
            </a:r>
          </a:p>
          <a:p>
            <a:r>
              <a:t>*(optional)* That alternative was also proposed after we had seen test results, so we do not treat it as confirmed.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the limits. In March 2026 reports roughly quadrupled. The ranking held up, but our weekly volume forecast fell 42 percent short, so capacity stays a human decision. We predict reports, not confirmed defects, and reports reflect who complains as well as road condition. We claim no savings and no failures prevented.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make this deployable, we need inspection outcomes to learn real defects, better intersection locations, and a prospective trial that freezes the model and scores future weeks. RoadWatch shows that public data can rank where to look first: honestly measured, and ready for a field test.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77240"/>
            <a:ext cx="1005840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9EC5F4"/>
                </a:solidFill>
                <a:latin typeface="Segoe UI Semibold"/>
              </a:rPr>
              <a:t>OXHACK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91440" cy="17830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188720"/>
            <a:ext cx="10058400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5800">
                <a:solidFill>
                  <a:srgbClr val="FFFFFF"/>
                </a:solidFill>
                <a:latin typeface="Segoe UI Semibold"/>
              </a:rPr>
              <a:t>RoadWatch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10241280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000">
                <a:solidFill>
                  <a:srgbClr val="E6EEF8"/>
                </a:solidFill>
                <a:latin typeface="Segoe UI"/>
              </a:rPr>
              <a:t>Using historical evidence to rank which Brooklyn street blocks are most likely to receive a pothole report next week, so a fixed inspection budget is focused where it is most likely to be needed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3867912"/>
            <a:ext cx="54864" cy="822960"/>
          </a:xfrm>
          <a:prstGeom prst="rect">
            <a:avLst/>
          </a:prstGeom>
          <a:solidFill>
            <a:srgbClr val="86B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3794760"/>
            <a:ext cx="301752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3200">
                <a:solidFill>
                  <a:srgbClr val="FFFFFF"/>
                </a:solidFill>
                <a:latin typeface="Segoe UI Semibold"/>
              </a:rPr>
              <a:t>23,448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4343400"/>
            <a:ext cx="30175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50">
                <a:solidFill>
                  <a:srgbClr val="CDE2FB"/>
                </a:solidFill>
                <a:latin typeface="Segoe UI"/>
              </a:rPr>
              <a:t>Brooklyn street blocks to choose from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3867912"/>
            <a:ext cx="54864" cy="822960"/>
          </a:xfrm>
          <a:prstGeom prst="rect">
            <a:avLst/>
          </a:prstGeom>
          <a:solidFill>
            <a:srgbClr val="86B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3794760"/>
            <a:ext cx="301752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3200">
                <a:solidFill>
                  <a:srgbClr val="FFFFFF"/>
                </a:solidFill>
                <a:latin typeface="Segoe UI Semibold"/>
              </a:rPr>
              <a:t>0.9%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4343400"/>
            <a:ext cx="30175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50">
                <a:solidFill>
                  <a:srgbClr val="CDE2FB"/>
                </a:solidFill>
                <a:latin typeface="Segoe UI"/>
              </a:rPr>
              <a:t>of block-weeks get a pothole report (test period)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3867912"/>
            <a:ext cx="54864" cy="822960"/>
          </a:xfrm>
          <a:prstGeom prst="rect">
            <a:avLst/>
          </a:prstGeom>
          <a:solidFill>
            <a:srgbClr val="86B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19871" y="3794760"/>
            <a:ext cx="32004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3200">
                <a:solidFill>
                  <a:srgbClr val="FFFFFF"/>
                </a:solidFill>
                <a:latin typeface="Segoe UI Semibold"/>
              </a:rPr>
              <a:t>71,609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9871" y="4343400"/>
            <a:ext cx="320040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50">
                <a:solidFill>
                  <a:srgbClr val="CDE2FB"/>
                </a:solidFill>
                <a:latin typeface="Segoe UI"/>
              </a:rPr>
              <a:t>Brooklyn 311 pothole reports since 2020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806440"/>
            <a:ext cx="105156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50">
                <a:solidFill>
                  <a:srgbClr val="B7D3F6"/>
                </a:solidFill>
                <a:latin typeface="Segoe UI"/>
              </a:rPr>
              <a:t>Retrospective evaluation on public NYC and NOAA data. Predicts 311 reports, not confirmed defects. Not a live municipal deployment.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8686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070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2A78D6"/>
                </a:solidFill>
                <a:latin typeface="Segoe UI Semibold"/>
              </a:rPr>
              <a:t>DATA COLLECTION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88136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700">
                <a:solidFill>
                  <a:srgbClr val="0B0B0B"/>
                </a:solidFill>
                <a:latin typeface="Segoe UI Semibold"/>
              </a:rPr>
              <a:t>Real public data, with messy locations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>
                <a:solidFill>
                  <a:srgbClr val="898781"/>
                </a:solidFill>
                <a:latin typeface="Segoe UI"/>
              </a:rPr>
              <a:t>RoadWatch · OxHack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>
                <a:solidFill>
                  <a:srgbClr val="898781"/>
                </a:solidFill>
                <a:latin typeface="Segoe U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419088"/>
            <a:ext cx="80467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900">
                <a:solidFill>
                  <a:srgbClr val="898781"/>
                </a:solidFill>
                <a:latin typeface="Segoe UI"/>
              </a:rPr>
              <a:t>Source: outputs/stage3/matching_diagnostics.json, label_diagnostics.json; outputs/stage7/reproducibility.json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120640" cy="932688"/>
          </a:xfrm>
          <a:prstGeom prst="rect">
            <a:avLst/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64008" cy="93268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874519"/>
            <a:ext cx="484632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450">
                <a:solidFill>
                  <a:srgbClr val="0B0B0B"/>
                </a:solidFill>
                <a:latin typeface="Segoe UI Semibold"/>
              </a:rPr>
              <a:t>NYC 311 service requests (Socrata API)</a:t>
            </a:r>
          </a:p>
          <a:p>
            <a:pPr algn="l">
              <a:spcAft>
                <a:spcPts val="600"/>
              </a:spcAft>
            </a:pPr>
            <a:r>
              <a:rPr sz="1250">
                <a:solidFill>
                  <a:srgbClr val="52514E"/>
                </a:solidFill>
                <a:latin typeface="Segoe UI"/>
              </a:rPr>
              <a:t>71,609 Brooklyn pothole reports, Jan 2020 – Oct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62072"/>
            <a:ext cx="5120640" cy="932688"/>
          </a:xfrm>
          <a:prstGeom prst="rect">
            <a:avLst/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62072"/>
            <a:ext cx="64008" cy="93268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953512"/>
            <a:ext cx="484632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450">
                <a:solidFill>
                  <a:srgbClr val="0B0B0B"/>
                </a:solidFill>
                <a:latin typeface="Segoe UI Semibold"/>
              </a:rPr>
              <a:t>NYC street centerline (official)</a:t>
            </a:r>
          </a:p>
          <a:p>
            <a:pPr algn="l">
              <a:spcAft>
                <a:spcPts val="600"/>
              </a:spcAft>
            </a:pPr>
            <a:r>
              <a:rPr sz="1250">
                <a:solidFill>
                  <a:srgbClr val="52514E"/>
                </a:solidFill>
                <a:latin typeface="Segoe UI"/>
              </a:rPr>
              <a:t>23,448 eligible blocks · 2,617 km · lanes, width, truck and bike routes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941063"/>
            <a:ext cx="5120640" cy="932688"/>
          </a:xfrm>
          <a:prstGeom prst="rect">
            <a:avLst/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941063"/>
            <a:ext cx="64008" cy="93268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032503"/>
            <a:ext cx="484632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450">
                <a:solidFill>
                  <a:srgbClr val="0B0B0B"/>
                </a:solidFill>
                <a:latin typeface="Segoe UI Semibold"/>
              </a:rPr>
              <a:t>NOAA GHCN-D, Central Park</a:t>
            </a:r>
          </a:p>
          <a:p>
            <a:pPr algn="l">
              <a:spcAft>
                <a:spcPts val="600"/>
              </a:spcAft>
            </a:pPr>
            <a:r>
              <a:rPr sz="1250">
                <a:solidFill>
                  <a:srgbClr val="52514E"/>
                </a:solidFill>
                <a:latin typeface="Segoe UI"/>
              </a:rPr>
              <a:t>daily temperature, rain and snow · 2,577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120640"/>
            <a:ext cx="512064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50">
                <a:solidFill>
                  <a:srgbClr val="898781"/>
                </a:solidFill>
                <a:latin typeface="Segoe UI"/>
              </a:rPr>
              <a:t>Also ingested for checks, not used by the model: pavement ratings (135,776 rows) and DOT work orders (110,830 rows).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737360"/>
            <a:ext cx="548640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0B0B0B"/>
                </a:solidFill>
                <a:latin typeface="Segoe UI Semibold"/>
              </a:rPr>
              <a:t>Where was the pothole? Matching 311 reports to blocks</a:t>
            </a:r>
          </a:p>
        </p:txBody>
      </p:sp>
      <p:pic>
        <p:nvPicPr>
          <p:cNvPr id="19" name="Picture 18" descr="matching_outcom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194560"/>
            <a:ext cx="5577840" cy="1350883"/>
          </a:xfrm>
          <a:prstGeom prst="rect">
            <a:avLst/>
          </a:prstGeom>
          <a:ln w="9525">
            <a:solidFill>
              <a:srgbClr val="E1E0D9"/>
            </a:solidFill>
          </a:ln>
        </p:spPr>
      </p:pic>
      <p:sp>
        <p:nvSpPr>
          <p:cNvPr id="20" name="TextBox 19"/>
          <p:cNvSpPr txBox="1"/>
          <p:nvPr/>
        </p:nvSpPr>
        <p:spPr>
          <a:xfrm>
            <a:off x="6309360" y="3657600"/>
            <a:ext cx="5486400" cy="2651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900"/>
              </a:spcAft>
            </a:pPr>
            <a:r>
              <a:rPr sz="1350">
                <a:solidFill>
                  <a:srgbClr val="0B0B0B"/>
                </a:solidFill>
                <a:latin typeface="Segoe UI Semibold"/>
              </a:rPr>
              <a:t>Ambiguous reports: </a:t>
            </a:r>
            <a:r>
              <a:rPr sz="1350">
                <a:solidFill>
                  <a:srgbClr val="52514E"/>
                </a:solidFill>
                <a:latin typeface="Segoe UI"/>
              </a:rPr>
              <a:t>most name an intersection (23,824 of 28,157), so a report could belong to any of its candidate blocks, typically 4.</a:t>
            </a:r>
          </a:p>
          <a:p>
            <a:pPr algn="l">
              <a:spcAft>
                <a:spcPts val="900"/>
              </a:spcAft>
            </a:pPr>
            <a:r>
              <a:rPr sz="1350">
                <a:solidFill>
                  <a:srgbClr val="0B0B0B"/>
                </a:solidFill>
                <a:latin typeface="Segoe UI Semibold"/>
              </a:rPr>
              <a:t>Missing locations: </a:t>
            </a:r>
            <a:r>
              <a:rPr sz="1350">
                <a:solidFill>
                  <a:srgbClr val="52514E"/>
                </a:solidFill>
                <a:latin typeface="Segoe UI"/>
              </a:rPr>
              <a:t>5,567 extra pothole requests had no usable borough or street; 111 were recovered with evidence.</a:t>
            </a:r>
          </a:p>
          <a:p>
            <a:pPr algn="l">
              <a:spcAft>
                <a:spcPts val="600"/>
              </a:spcAft>
            </a:pPr>
            <a:r>
              <a:rPr sz="1350">
                <a:solidFill>
                  <a:srgbClr val="0B0B0B"/>
                </a:solidFill>
                <a:latin typeface="Segoe UI Semibold"/>
              </a:rPr>
              <a:t>Unknown, not zero: </a:t>
            </a:r>
            <a:r>
              <a:rPr sz="1350">
                <a:solidFill>
                  <a:srgbClr val="52514E"/>
                </a:solidFill>
                <a:latin typeface="Segoe UI"/>
              </a:rPr>
              <a:t>in 23 of 355 weeks too many reports were unlocatable, so those weeks are excluded rather than treated as 'no report'.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8686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070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2A78D6"/>
                </a:solidFill>
                <a:latin typeface="Segoe UI Semibold"/>
              </a:rPr>
              <a:t>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88136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700">
                <a:solidFill>
                  <a:srgbClr val="0B0B0B"/>
                </a:solidFill>
                <a:latin typeface="Segoe UI Semibold"/>
              </a:rPr>
              <a:t>From raw downloads to point-in-time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>
                <a:solidFill>
                  <a:srgbClr val="898781"/>
                </a:solidFill>
                <a:latin typeface="Segoe UI"/>
              </a:rPr>
              <a:t>RoadWatch · OxHack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>
                <a:solidFill>
                  <a:srgbClr val="898781"/>
                </a:solidFill>
                <a:latin typeface="Segoe U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419088"/>
            <a:ext cx="80467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900">
                <a:solidFill>
                  <a:srgbClr val="898781"/>
                </a:solidFill>
                <a:latin typeface="Segoe UI"/>
              </a:rPr>
              <a:t>Source: Stage 2–4 reports; outputs/stage7/reproducibility.json; outputs/stage4/feature_definitions.md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2606040" cy="1965960"/>
          </a:xfrm>
          <a:prstGeom prst="roundRect">
            <a:avLst>
              <a:gd name="adj" fmla="val 7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74519"/>
            <a:ext cx="2377440" cy="1828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400">
                <a:solidFill>
                  <a:srgbClr val="0B0B0B"/>
                </a:solidFill>
                <a:latin typeface="Segoe UI Semibold"/>
              </a:rPr>
              <a:t>1  Validate and archive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52514E"/>
                </a:solidFill>
                <a:latin typeface="Segoe UI"/>
              </a:rPr>
              <a:t>Raw API responses kept unchanged with sha256 checksums; row counts checked against the server. An offline rebuild reproduced 8/8 tables byte-for-byte.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84448" y="1783080"/>
            <a:ext cx="2606040" cy="1965960"/>
          </a:xfrm>
          <a:prstGeom prst="roundRect">
            <a:avLst>
              <a:gd name="adj" fmla="val 7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21608" y="1874519"/>
            <a:ext cx="2377440" cy="1828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400">
                <a:solidFill>
                  <a:srgbClr val="0B0B0B"/>
                </a:solidFill>
                <a:latin typeface="Segoe UI Semibold"/>
              </a:rPr>
              <a:t>2  Match to blocks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52514E"/>
                </a:solidFill>
                <a:latin typeface="Segoe UI"/>
              </a:rPr>
              <a:t>Street names and coordinates place each report on a block; ambiguous reports keep every candidate.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401568" y="2761488"/>
            <a:ext cx="164592" cy="0"/>
          </a:xfrm>
          <a:prstGeom prst="line">
            <a:avLst/>
          </a:prstGeom>
          <a:ln w="19050">
            <a:solidFill>
              <a:srgbClr val="8987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391655" y="1783080"/>
            <a:ext cx="2606040" cy="1965960"/>
          </a:xfrm>
          <a:prstGeom prst="roundRect">
            <a:avLst>
              <a:gd name="adj" fmla="val 7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28816" y="1874519"/>
            <a:ext cx="2377440" cy="1828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400">
                <a:solidFill>
                  <a:srgbClr val="0B0B0B"/>
                </a:solidFill>
                <a:latin typeface="Segoe UI Semibold"/>
              </a:rPr>
              <a:t>3  Label each block-week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52514E"/>
                </a:solidFill>
                <a:latin typeface="Segoe UI"/>
              </a:rPr>
              <a:t>Positive, negative or unknown (8.3 million block-weeks). Unknown weeks are never counted as zero.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208775" y="2761488"/>
            <a:ext cx="164593" cy="0"/>
          </a:xfrm>
          <a:prstGeom prst="line">
            <a:avLst/>
          </a:prstGeom>
          <a:ln w="19050">
            <a:solidFill>
              <a:srgbClr val="8987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98863" y="1783080"/>
            <a:ext cx="2606040" cy="1965960"/>
          </a:xfrm>
          <a:prstGeom prst="roundRect">
            <a:avLst>
              <a:gd name="adj" fmla="val 7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36024" y="1874519"/>
            <a:ext cx="2377440" cy="1828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400">
                <a:solidFill>
                  <a:srgbClr val="0B0B0B"/>
                </a:solidFill>
                <a:latin typeface="Segoe UI Semibold"/>
              </a:rPr>
              <a:t>4  Point-in-time features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52514E"/>
                </a:solidFill>
                <a:latin typeface="Segoe UI"/>
              </a:rPr>
              <a:t>38 features per block, built only from data published before the forecast date.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015984" y="2761488"/>
            <a:ext cx="164592" cy="0"/>
          </a:xfrm>
          <a:prstGeom prst="line">
            <a:avLst/>
          </a:prstGeom>
          <a:ln w="19050">
            <a:solidFill>
              <a:srgbClr val="8987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7240" y="3977639"/>
            <a:ext cx="107899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0B0B0B"/>
                </a:solidFill>
                <a:latin typeface="Segoe UI Semibold"/>
              </a:rPr>
              <a:t>What the model is allowed to know when it ranks blocks on forecast Monday 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4400" y="5440680"/>
            <a:ext cx="10332720" cy="0"/>
          </a:xfrm>
          <a:prstGeom prst="line">
            <a:avLst/>
          </a:prstGeom>
          <a:ln w="31750">
            <a:solidFill>
              <a:srgbClr val="C3C2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28800" y="5312664"/>
            <a:ext cx="0" cy="256032"/>
          </a:xfrm>
          <a:prstGeom prst="line">
            <a:avLst/>
          </a:prstGeom>
          <a:ln w="25400">
            <a:solidFill>
              <a:srgbClr val="5251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2959" y="4572000"/>
            <a:ext cx="201168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>
                <a:solidFill>
                  <a:srgbClr val="0B0B0B"/>
                </a:solidFill>
                <a:latin typeface="Segoe UI Semibold"/>
              </a:rPr>
              <a:t>t − 14 days</a:t>
            </a:r>
          </a:p>
          <a:p>
            <a:pPr algn="ctr">
              <a:spcAft>
                <a:spcPts val="600"/>
              </a:spcAft>
            </a:pPr>
            <a:r>
              <a:rPr sz="1050">
                <a:solidFill>
                  <a:srgbClr val="52514E"/>
                </a:solidFill>
                <a:latin typeface="Segoe UI"/>
              </a:rPr>
              <a:t>label history only for weeks that have fully matured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297680" y="5312664"/>
            <a:ext cx="0" cy="256032"/>
          </a:xfrm>
          <a:prstGeom prst="line">
            <a:avLst/>
          </a:prstGeom>
          <a:ln w="25400">
            <a:solidFill>
              <a:srgbClr val="5251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291840" y="5641848"/>
            <a:ext cx="201168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>
                <a:solidFill>
                  <a:srgbClr val="0B0B0B"/>
                </a:solidFill>
                <a:latin typeface="Segoe UI Semibold"/>
              </a:rPr>
              <a:t>t − 5 days</a:t>
            </a:r>
          </a:p>
          <a:p>
            <a:pPr algn="ctr">
              <a:spcAft>
                <a:spcPts val="600"/>
              </a:spcAft>
            </a:pPr>
            <a:r>
              <a:rPr sz="1050">
                <a:solidFill>
                  <a:srgbClr val="52514E"/>
                </a:solidFill>
                <a:latin typeface="Segoe UI"/>
              </a:rPr>
              <a:t>NOAA weather published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309360" y="5312664"/>
            <a:ext cx="0" cy="256032"/>
          </a:xfrm>
          <a:prstGeom prst="line">
            <a:avLst/>
          </a:prstGeom>
          <a:ln w="25400">
            <a:solidFill>
              <a:srgbClr val="5251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303520" y="4572000"/>
            <a:ext cx="201168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>
                <a:solidFill>
                  <a:srgbClr val="0B0B0B"/>
                </a:solidFill>
                <a:latin typeface="Segoe UI Semibold"/>
              </a:rPr>
              <a:t>t − 2 days</a:t>
            </a:r>
          </a:p>
          <a:p>
            <a:pPr algn="ctr">
              <a:spcAft>
                <a:spcPts val="600"/>
              </a:spcAft>
            </a:pPr>
            <a:r>
              <a:rPr sz="1050">
                <a:solidFill>
                  <a:srgbClr val="52514E"/>
                </a:solidFill>
                <a:latin typeface="Segoe UI"/>
              </a:rPr>
              <a:t>311 reports published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863840" y="5312664"/>
            <a:ext cx="0" cy="256032"/>
          </a:xfrm>
          <a:prstGeom prst="line">
            <a:avLst/>
          </a:prstGeom>
          <a:ln w="25400">
            <a:solidFill>
              <a:srgbClr val="2A7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858000" y="5641848"/>
            <a:ext cx="201168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>
                <a:solidFill>
                  <a:srgbClr val="0B0B0B"/>
                </a:solidFill>
                <a:latin typeface="Segoe UI Semibold"/>
              </a:rPr>
              <a:t>t (Monday)</a:t>
            </a:r>
          </a:p>
          <a:p>
            <a:pPr algn="ctr">
              <a:spcAft>
                <a:spcPts val="600"/>
              </a:spcAft>
            </a:pPr>
            <a:r>
              <a:rPr sz="1050">
                <a:solidFill>
                  <a:srgbClr val="52514E"/>
                </a:solidFill>
                <a:latin typeface="Segoe UI"/>
              </a:rPr>
              <a:t>worklist issued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63840" y="5358384"/>
            <a:ext cx="2651760" cy="1645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4663440"/>
            <a:ext cx="27432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2A78D6"/>
                </a:solidFill>
                <a:latin typeface="Segoe UI Semibold"/>
              </a:rPr>
              <a:t>target: a report in [t, t + 7 days)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8686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070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2A78D6"/>
                </a:solidFill>
                <a:latin typeface="Segoe UI Semibold"/>
              </a:rPr>
              <a:t>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88136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700">
                <a:solidFill>
                  <a:srgbClr val="0B0B0B"/>
                </a:solidFill>
                <a:latin typeface="Segoe UI Semibold"/>
              </a:rPr>
              <a:t>LightGBM ranks blocks, tested by replaying 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>
                <a:solidFill>
                  <a:srgbClr val="898781"/>
                </a:solidFill>
                <a:latin typeface="Segoe UI"/>
              </a:rPr>
              <a:t>RoadWatch · OxHack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>
                <a:solidFill>
                  <a:srgbClr val="898781"/>
                </a:solidFill>
                <a:latin typeface="Segoe U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419088"/>
            <a:ext cx="80467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900">
                <a:solidFill>
                  <a:srgbClr val="898781"/>
                </a:solidFill>
                <a:latin typeface="Segoe UI"/>
              </a:rPr>
              <a:t>Source: data/processed/stage4/models/primary__LGBM/metadata.json; data/processed/stage4/selection.json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4206240" cy="4572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>
                <a:solidFill>
                  <a:srgbClr val="0B0B0B"/>
                </a:solidFill>
                <a:latin typeface="Segoe UI Semibold"/>
              </a:rPr>
              <a:t>LightGBM: </a:t>
            </a:r>
            <a:r>
              <a:rPr sz="1400">
                <a:solidFill>
                  <a:srgbClr val="52514E"/>
                </a:solidFill>
                <a:latin typeface="Segoe UI"/>
              </a:rPr>
              <a:t>gradient-boosted decision trees over 38 features: recent report history (decayed counts, days since last report), neighbouring blocks, and static road attributes (length, lanes, width, truck and bike routes).</a:t>
            </a:r>
          </a:p>
          <a:p>
            <a:pPr algn="l">
              <a:spcAft>
                <a:spcPts val="1000"/>
              </a:spcAft>
            </a:pPr>
            <a:r>
              <a:rPr sz="1400">
                <a:solidFill>
                  <a:srgbClr val="0B0B0B"/>
                </a:solidFill>
                <a:latin typeface="Segoe UI Semibold"/>
              </a:rPr>
              <a:t>Output: </a:t>
            </a:r>
            <a:r>
              <a:rPr sz="1400">
                <a:solidFill>
                  <a:srgbClr val="52514E"/>
                </a:solidFill>
                <a:latin typeface="Segoe UI"/>
              </a:rPr>
              <a:t>a score that ranks all blocks for the next 7 days. Ranks, not reliable probabilities.</a:t>
            </a:r>
          </a:p>
          <a:p>
            <a:pPr algn="l">
              <a:spcAft>
                <a:spcPts val="1000"/>
              </a:spcAft>
            </a:pPr>
            <a:r>
              <a:rPr sz="1400">
                <a:solidFill>
                  <a:srgbClr val="0B0B0B"/>
                </a:solidFill>
                <a:latin typeface="Segoe UI Semibold"/>
              </a:rPr>
              <a:t>Baselines: </a:t>
            </a:r>
            <a:r>
              <a:rPr sz="1400">
                <a:solidFill>
                  <a:srgbClr val="52514E"/>
                </a:solidFill>
                <a:latin typeface="Segoe UI"/>
              </a:rPr>
              <a:t>historical rate (share of the last 52 matured weeks with a report), recency (decayed report count) and random order.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0B0B0B"/>
                </a:solidFill>
                <a:latin typeface="Segoe UI Semibold"/>
              </a:rPr>
              <a:t>No peeking: </a:t>
            </a:r>
            <a:r>
              <a:rPr sz="1400">
                <a:solidFill>
                  <a:srgbClr val="52514E"/>
                </a:solidFill>
                <a:latin typeface="Segoe UI"/>
              </a:rPr>
              <a:t>model and features chosen on Jan–Jun 2025 validation weeks and frozen before any test prediction.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1719072"/>
            <a:ext cx="65836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0B0B0B"/>
                </a:solidFill>
                <a:latin typeface="Segoe UI Semibold"/>
              </a:rPr>
              <a:t>Walk-forward backtest: 16 monthly retrains, each trained only on the past</a:t>
            </a:r>
          </a:p>
        </p:txBody>
      </p:sp>
      <p:pic>
        <p:nvPicPr>
          <p:cNvPr id="10" name="Picture 9" descr="walk_forw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2148840"/>
            <a:ext cx="6629400" cy="3225114"/>
          </a:xfrm>
          <a:prstGeom prst="rect">
            <a:avLst/>
          </a:prstGeom>
          <a:ln w="9525">
            <a:solidFill>
              <a:srgbClr val="E1E0D9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8686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070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2A78D6"/>
                </a:solidFill>
                <a:latin typeface="Segoe UI Semibold"/>
              </a:rP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88136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700">
                <a:solidFill>
                  <a:srgbClr val="0B0B0B"/>
                </a:solidFill>
                <a:latin typeface="Segoe UI Semibold"/>
              </a:rPr>
              <a:t>Strict LightGBM beats the historical-rate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>
                <a:solidFill>
                  <a:srgbClr val="898781"/>
                </a:solidFill>
                <a:latin typeface="Segoe UI"/>
              </a:rPr>
              <a:t>RoadWatch · OxHack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>
                <a:solidFill>
                  <a:srgbClr val="898781"/>
                </a:solidFill>
                <a:latin typeface="Segoe U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419088"/>
            <a:ext cx="80467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900">
                <a:solidFill>
                  <a:srgbClr val="898781"/>
                </a:solidFill>
                <a:latin typeface="Segoe UI"/>
              </a:rPr>
              <a:t>Source: outputs/stage4/test_results.csv, bootstrap_comparisons.json; outputs/stage5/capture_definitions.csv (CIs). 67 test weeks, 16,855 reports</a:t>
            </a:r>
          </a:p>
        </p:txBody>
      </p:sp>
      <p:pic>
        <p:nvPicPr>
          <p:cNvPr id="8" name="Picture 7" descr="evidence_strict_vs_bas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37360"/>
            <a:ext cx="7223760" cy="2771908"/>
          </a:xfrm>
          <a:prstGeom prst="rect">
            <a:avLst/>
          </a:prstGeom>
          <a:ln w="9525">
            <a:solidFill>
              <a:srgbClr val="E1E0D9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77240" y="4709160"/>
            <a:ext cx="7040880" cy="1554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50">
                <a:solidFill>
                  <a:srgbClr val="898781"/>
                </a:solidFill>
                <a:latin typeface="Segoe UI"/>
              </a:rPr>
              <a:t>Top 1% list = 235 blocks per week, 67 held-out weeks (Jul 2025 – Oct 2026). Lines = 95% confidence intervals (week-level bootstrap).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83879" y="1783080"/>
            <a:ext cx="3657600" cy="1600200"/>
          </a:xfrm>
          <a:prstGeom prst="rect">
            <a:avLst/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83879" y="1783080"/>
            <a:ext cx="64008" cy="16002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59" y="1856231"/>
            <a:ext cx="3383280" cy="1490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350">
                <a:solidFill>
                  <a:srgbClr val="0B0B0B"/>
                </a:solidFill>
                <a:latin typeface="Segoe UI Semibold"/>
              </a:rPr>
              <a:t>Measured improvement</a:t>
            </a:r>
          </a:p>
          <a:p>
            <a:pPr algn="l">
              <a:spcAft>
                <a:spcPts val="200"/>
              </a:spcAft>
            </a:pPr>
            <a:r>
              <a:rPr sz="1250">
                <a:solidFill>
                  <a:srgbClr val="52514E"/>
                </a:solidFill>
                <a:latin typeface="Segoe UI"/>
              </a:rPr>
              <a:t>Precision: 9.5% vs 6.6%; paired 95% CI +2.3 to +3.4 pp.</a:t>
            </a:r>
          </a:p>
          <a:p>
            <a:pPr algn="l">
              <a:spcAft>
                <a:spcPts val="200"/>
              </a:spcAft>
            </a:pPr>
            <a:r>
              <a:rPr sz="1250">
                <a:solidFill>
                  <a:srgbClr val="52514E"/>
                </a:solidFill>
                <a:latin typeface="Segoe UI"/>
              </a:rPr>
              <a:t>Report capture: 13.4% vs 8.4% (random 1.0%).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3566160"/>
            <a:ext cx="3657600" cy="2148840"/>
          </a:xfrm>
          <a:prstGeom prst="rect">
            <a:avLst/>
          </a:prstGeom>
          <a:solidFill>
            <a:srgbClr val="FFF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3566160"/>
            <a:ext cx="64008" cy="2148840"/>
          </a:xfrm>
          <a:prstGeom prst="rect">
            <a:avLst/>
          </a:prstGeom>
          <a:solidFill>
            <a:srgbClr val="FAB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59" y="3639312"/>
            <a:ext cx="3383280" cy="20391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300">
                <a:solidFill>
                  <a:srgbClr val="0B0B0B"/>
                </a:solidFill>
                <a:latin typeface="Segoe UI Semibold"/>
              </a:rPr>
              <a:t>Target definition matters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52514E"/>
                </a:solidFill>
                <a:latin typeface="Segoe UI"/>
              </a:rPr>
              <a:t>Strict single-block target: each report counts on exactly one block (ambiguous reports: a fixed pseudo-random pick).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52514E"/>
                </a:solidFill>
                <a:latin typeface="Segoe UI"/>
              </a:rPr>
              <a:t>Multi-block target: every candidate block counts. Its precision (16.4%) answers an easier question; it is not a better model.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8686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070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2A78D6"/>
                </a:solidFill>
                <a:latin typeface="Segoe UI Semibold"/>
              </a:rPr>
              <a:t>DECISION-MAKING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88136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700">
                <a:solidFill>
                  <a:srgbClr val="0B0B0B"/>
                </a:solidFill>
                <a:latin typeface="Segoe UI Semibold"/>
              </a:rPr>
              <a:t>From ranks to a capacity-limited inspection worklist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>
                <a:solidFill>
                  <a:srgbClr val="898781"/>
                </a:solidFill>
                <a:latin typeface="Segoe UI"/>
              </a:rPr>
              <a:t>RoadWatch · OxHack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>
                <a:solidFill>
                  <a:srgbClr val="898781"/>
                </a:solidFill>
                <a:latin typeface="Segoe U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419088"/>
            <a:ext cx="80467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900">
                <a:solidFill>
                  <a:srgbClr val="898781"/>
                </a:solidFill>
                <a:latin typeface="Segoe UI"/>
              </a:rPr>
              <a:t>Source: Live dashboard, retrospective week 16 Mar 2026 (default strict top-K, 1%); outputs/stage5/capture_definitions.csv</a:t>
            </a:r>
          </a:p>
        </p:txBody>
      </p:sp>
      <p:pic>
        <p:nvPicPr>
          <p:cNvPr id="8" name="Picture 7" descr="oxhack_map_worklist.png"/>
          <p:cNvPicPr>
            <a:picLocks noChangeAspect="1"/>
          </p:cNvPicPr>
          <p:nvPr/>
        </p:nvPicPr>
        <p:blipFill>
          <a:blip r:embed="rId3"/>
          <a:srcRect l="19000" b="25000"/>
          <a:stretch>
            <a:fillRect/>
          </a:stretch>
        </p:blipFill>
        <p:spPr>
          <a:xfrm>
            <a:off x="685800" y="1691640"/>
            <a:ext cx="6035040" cy="3492500"/>
          </a:xfrm>
          <a:prstGeom prst="rect">
            <a:avLst/>
          </a:prstGeom>
          <a:ln w="9525">
            <a:solidFill>
              <a:srgbClr val="E1E0D9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995160" y="1691640"/>
            <a:ext cx="4846320" cy="21945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300">
                <a:solidFill>
                  <a:srgbClr val="0B0B0B"/>
                </a:solidFill>
                <a:latin typeface="Segoe UI Semibold"/>
              </a:rPr>
              <a:t>1  Capacity: </a:t>
            </a:r>
            <a:r>
              <a:rPr sz="1300">
                <a:solidFill>
                  <a:srgbClr val="52514E"/>
                </a:solidFill>
                <a:latin typeface="Segoe UI"/>
              </a:rPr>
              <a:t>K = 0.5% / 1% / 2% of 23,448 blocks = 118 / 235 / 469, or custom.</a:t>
            </a:r>
          </a:p>
          <a:p>
            <a:pPr algn="l">
              <a:spcAft>
                <a:spcPts val="500"/>
              </a:spcAft>
            </a:pPr>
            <a:r>
              <a:rPr sz="1300">
                <a:solidFill>
                  <a:srgbClr val="0B0B0B"/>
                </a:solidFill>
                <a:latin typeface="Segoe UI Semibold"/>
              </a:rPr>
              <a:t>2  Rank: </a:t>
            </a:r>
            <a:r>
              <a:rPr sz="1300">
                <a:solidFill>
                  <a:srgbClr val="52514E"/>
                </a:solidFill>
                <a:latin typeface="Segoe UI"/>
              </a:rPr>
              <a:t>take the top K blocks by this week's score.</a:t>
            </a:r>
          </a:p>
          <a:p>
            <a:pPr algn="l">
              <a:spcAft>
                <a:spcPts val="500"/>
              </a:spcAft>
            </a:pPr>
            <a:r>
              <a:rPr sz="1300">
                <a:solidFill>
                  <a:srgbClr val="0B0B0B"/>
                </a:solidFill>
                <a:latin typeface="Segoe UI Semibold"/>
              </a:rPr>
              <a:t>3  Explain: </a:t>
            </a:r>
            <a:r>
              <a:rPr sz="1300">
                <a:solidFill>
                  <a:srgbClr val="52514E"/>
                </a:solidFill>
                <a:latin typeface="Segoe UI"/>
              </a:rPr>
              <a:t>priority tier, report history, model drivers, map.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0B0B0B"/>
                </a:solidFill>
                <a:latin typeface="Segoe UI Semibold"/>
              </a:rPr>
              <a:t>4  Act: </a:t>
            </a:r>
            <a:r>
              <a:rPr sz="1300">
                <a:solidFill>
                  <a:srgbClr val="52514E"/>
                </a:solidFill>
                <a:latin typeface="Segoe UI"/>
              </a:rPr>
              <a:t>inspect (not repair); export CSV or GeoJSON.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3657600"/>
            <a:ext cx="48463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50">
                <a:solidFill>
                  <a:srgbClr val="0B0B0B"/>
                </a:solidFill>
                <a:latin typeface="Segoe UI Semibold"/>
              </a:rPr>
              <a:t>Which list is best depends on what an inspection covers</a:t>
            </a:r>
          </a:p>
        </p:txBody>
      </p:sp>
      <p:pic>
        <p:nvPicPr>
          <p:cNvPr id="11" name="Picture 10" descr="coverage_assump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4023360"/>
            <a:ext cx="4892040" cy="2247694"/>
          </a:xfrm>
          <a:prstGeom prst="rect">
            <a:avLst/>
          </a:prstGeom>
          <a:ln w="9525">
            <a:solidFill>
              <a:srgbClr val="E1E0D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77240" y="5897880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52514E"/>
                </a:solidFill>
                <a:latin typeface="Segoe UI"/>
              </a:rPr>
              <a:t>The non-adjacent alternative was proposed after test-period results were seen, so its advantage is a hypothesis, not a confirmed result.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8686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070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2A78D6"/>
                </a:solidFill>
                <a:latin typeface="Segoe UI Semibold"/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88136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700">
                <a:solidFill>
                  <a:srgbClr val="0B0B0B"/>
                </a:solidFill>
                <a:latin typeface="Segoe UI Semibold"/>
              </a:rPr>
              <a:t>What RoadWatch does not show (yet)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>
                <a:solidFill>
                  <a:srgbClr val="898781"/>
                </a:solidFill>
                <a:latin typeface="Segoe UI"/>
              </a:rPr>
              <a:t>RoadWatch · OxHack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>
                <a:solidFill>
                  <a:srgbClr val="898781"/>
                </a:solidFill>
                <a:latin typeface="Segoe U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419088"/>
            <a:ext cx="80467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900">
                <a:solidFill>
                  <a:srgbClr val="898781"/>
                </a:solidFill>
                <a:latin typeface="Segoe UI"/>
              </a:rPr>
              <a:t>Source: outputs/stage5/volume_forecast_results.json, capture_definitions.csv (March: 5 weeks), geographic_coverage.json</a:t>
            </a:r>
          </a:p>
        </p:txBody>
      </p:sp>
      <p:pic>
        <p:nvPicPr>
          <p:cNvPr id="8" name="Picture 7" descr="volume_sur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91640"/>
            <a:ext cx="6309360" cy="2988644"/>
          </a:xfrm>
          <a:prstGeom prst="rect">
            <a:avLst/>
          </a:prstGeom>
          <a:ln w="9525">
            <a:solidFill>
              <a:srgbClr val="E1E0D9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269480" y="1691640"/>
            <a:ext cx="4572000" cy="46634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250">
                <a:solidFill>
                  <a:srgbClr val="0B0B0B"/>
                </a:solidFill>
                <a:latin typeface="Segoe UI Semibold"/>
              </a:rPr>
              <a:t>March 2026 surge: </a:t>
            </a:r>
            <a:r>
              <a:rPr sz="1250">
                <a:solidFill>
                  <a:srgbClr val="52514E"/>
                </a:solidFill>
                <a:latin typeface="Segoe UI"/>
              </a:rPr>
              <a:t>843 reports per week, about 4× normal. The volume forecast fell 42% short; ranking still beat the baseline (12.9% vs 9.2% expected capture, only 5 weeks).</a:t>
            </a:r>
          </a:p>
          <a:p>
            <a:pPr algn="l">
              <a:spcAft>
                <a:spcPts val="800"/>
              </a:spcAft>
            </a:pPr>
            <a:r>
              <a:rPr sz="1250">
                <a:solidFill>
                  <a:srgbClr val="0B0B0B"/>
                </a:solidFill>
                <a:latin typeface="Segoe UI Semibold"/>
              </a:rPr>
              <a:t>Weak volume forecasts: </a:t>
            </a:r>
            <a:r>
              <a:rPr sz="1250">
                <a:solidFill>
                  <a:srgbClr val="52514E"/>
                </a:solidFill>
                <a:latin typeface="Segoe UI"/>
              </a:rPr>
              <a:t>MAE 64.2 vs 64.1 for 'same as last week', so capacity stays a human decision.</a:t>
            </a:r>
          </a:p>
          <a:p>
            <a:pPr algn="l">
              <a:spcAft>
                <a:spcPts val="800"/>
              </a:spcAft>
            </a:pPr>
            <a:r>
              <a:rPr sz="1250">
                <a:solidFill>
                  <a:srgbClr val="0B0B0B"/>
                </a:solidFill>
                <a:latin typeface="Segoe UI Semibold"/>
              </a:rPr>
              <a:t>Reports, not defects: </a:t>
            </a:r>
            <a:r>
              <a:rPr sz="1250">
                <a:solidFill>
                  <a:srgbClr val="52514E"/>
                </a:solidFill>
                <a:latin typeface="Segoe UI"/>
              </a:rPr>
              <a:t>no inspection outcomes; no failures prevented or money saved are claimed.</a:t>
            </a:r>
          </a:p>
          <a:p>
            <a:pPr algn="l">
              <a:spcAft>
                <a:spcPts val="800"/>
              </a:spcAft>
            </a:pPr>
            <a:r>
              <a:rPr sz="1250">
                <a:solidFill>
                  <a:srgbClr val="0B0B0B"/>
                </a:solidFill>
                <a:latin typeface="Segoe UI Semibold"/>
              </a:rPr>
              <a:t>Reporting bias: </a:t>
            </a:r>
            <a:r>
              <a:rPr sz="1250">
                <a:solidFill>
                  <a:srgbClr val="52514E"/>
                </a:solidFill>
                <a:latin typeface="Segoe UI"/>
              </a:rPr>
              <a:t>reports track complaints; by ZIP they follow DOT work orders (rho 0.77) but not pavement ratings (rho −0.23).</a:t>
            </a:r>
          </a:p>
          <a:p>
            <a:pPr algn="l">
              <a:spcAft>
                <a:spcPts val="600"/>
              </a:spcAft>
            </a:pPr>
            <a:r>
              <a:rPr sz="1250">
                <a:solidFill>
                  <a:srgbClr val="0B0B0B"/>
                </a:solidFill>
                <a:latin typeface="Segoe UI Semibold"/>
              </a:rPr>
              <a:t>Ambiguous locations: </a:t>
            </a:r>
            <a:r>
              <a:rPr sz="1250">
                <a:solidFill>
                  <a:srgbClr val="52514E"/>
                </a:solidFill>
                <a:latin typeface="Segoe UI"/>
              </a:rPr>
              <a:t>44% of test-period reports have several candidate blocks.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8686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070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2A78D6"/>
                </a:solidFill>
                <a:latin typeface="Segoe UI Semibold"/>
              </a:rPr>
              <a:t>REAL-WORLD IMPROVEMENT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88136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700">
                <a:solidFill>
                  <a:srgbClr val="0B0B0B"/>
                </a:solidFill>
                <a:latin typeface="Segoe UI Semibold"/>
              </a:rPr>
              <a:t>What it would take to deploy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>
                <a:solidFill>
                  <a:srgbClr val="898781"/>
                </a:solidFill>
                <a:latin typeface="Segoe UI"/>
              </a:rPr>
              <a:t>RoadWatch · OxHack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>
                <a:solidFill>
                  <a:srgbClr val="898781"/>
                </a:solidFill>
                <a:latin typeface="Segoe U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419088"/>
            <a:ext cx="80467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900">
                <a:solidFill>
                  <a:srgbClr val="898781"/>
                </a:solidFill>
                <a:latin typeface="Segoe UI"/>
              </a:rPr>
              <a:t>Source: Proposals, not results. Full roadmap: appendix and technical manual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783080"/>
          <a:ext cx="10881360" cy="37490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14600"/>
                <a:gridCol w="2606040"/>
                <a:gridCol w="3291840"/>
                <a:gridCol w="2468880"/>
              </a:tblGrid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B0B0B"/>
                          </a:solidFill>
                          <a:latin typeface="Segoe UI Semibold"/>
                        </a:rPr>
                        <a:t>Improvement</a:t>
                      </a:r>
                    </a:p>
                  </a:txBody>
                  <a:tcPr marL="73152" marR="73152" marT="27432" marB="27432" anchor="ctr">
                    <a:solidFill>
                      <a:srgbClr val="F4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B0B0B"/>
                          </a:solidFill>
                          <a:latin typeface="Segoe UI Semibold"/>
                        </a:rPr>
                        <a:t>Data needed</a:t>
                      </a:r>
                    </a:p>
                  </a:txBody>
                  <a:tcPr marL="73152" marR="73152" marT="27432" marB="27432" anchor="ctr">
                    <a:solidFill>
                      <a:srgbClr val="F4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B0B0B"/>
                          </a:solidFill>
                          <a:latin typeface="Segoe UI Semibold"/>
                        </a:rPr>
                        <a:t>How to implement</a:t>
                      </a:r>
                    </a:p>
                  </a:txBody>
                  <a:tcPr marL="73152" marR="73152" marT="27432" marB="27432" anchor="ctr">
                    <a:solidFill>
                      <a:srgbClr val="F4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B0B0B"/>
                          </a:solidFill>
                          <a:latin typeface="Segoe UI Semibold"/>
                        </a:rPr>
                        <a:t>Success metric</a:t>
                      </a:r>
                    </a:p>
                  </a:txBody>
                  <a:tcPr marL="73152" marR="73152" marT="27432" marB="27432" anchor="ctr">
                    <a:solidFill>
                      <a:srgbClr val="F4F3E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52514E"/>
                          </a:solidFill>
                          <a:latin typeface="Segoe UI"/>
                        </a:rPr>
                        <a:t>Confirmed inspection outcomes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52514E"/>
                          </a:solidFill>
                          <a:latin typeface="Segoe UI"/>
                        </a:rPr>
                        <a:t>defect found / not found, severity, repair date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52514E"/>
                          </a:solidFill>
                          <a:latin typeface="Segoe UI"/>
                        </a:rPr>
                        <a:t>outcome columns in the exported worklist, joined back by block id each week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52514E"/>
                          </a:solidFill>
                          <a:latin typeface="Segoe UI"/>
                        </a:rPr>
                        <a:t>defects found per 100 inspections vs baseline list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52514E"/>
                          </a:solidFill>
                          <a:latin typeface="Segoe UI"/>
                        </a:rPr>
                        <a:t>Better intersection locations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52514E"/>
                          </a:solidFill>
                          <a:latin typeface="Segoe UI"/>
                        </a:rPr>
                        <a:t>GPS or photo with each 311 report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52514E"/>
                          </a:solidFill>
                          <a:latin typeface="Segoe UI"/>
                        </a:rPr>
                        <a:t>snap reports to the nearest block leg; learn which leg is usually at fault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52514E"/>
                          </a:solidFill>
                          <a:latin typeface="Segoe UI"/>
                        </a:rPr>
                        <a:t>share of reports on one block (now 59.2%)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52514E"/>
                          </a:solidFill>
                          <a:latin typeface="Segoe UI"/>
                        </a:rPr>
                        <a:t>Prospective shadow trial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52514E"/>
                          </a:solidFill>
                          <a:latin typeface="Segoe UI"/>
                        </a:rPr>
                        <a:t>future weeks after 12 Oct 2026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52514E"/>
                          </a:solidFill>
                          <a:latin typeface="Segoe UI"/>
                        </a:rPr>
                        <a:t>freeze model and default list; score weekly without tuning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52514E"/>
                          </a:solidFill>
                          <a:latin typeface="Segoe UI"/>
                        </a:rPr>
                        <a:t>pre-registered capture and precision vs baseline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52514E"/>
                          </a:solidFill>
                          <a:latin typeface="Segoe UI"/>
                        </a:rPr>
                        <a:t>Costs and repair effectiveness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52514E"/>
                          </a:solidFill>
                          <a:latin typeface="Segoe UI"/>
                        </a:rPr>
                        <a:t>repair cost, crew time, re-report rate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52514E"/>
                          </a:solidFill>
                          <a:latin typeface="Segoe UI"/>
                        </a:rPr>
                        <a:t>randomised or alternating trial against current practice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52514E"/>
                          </a:solidFill>
                          <a:latin typeface="Segoe UI"/>
                        </a:rPr>
                        <a:t>cost per verified defect; only then any savings claim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5760720"/>
            <a:ext cx="107899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52514E"/>
                </a:solidFill>
                <a:latin typeface="Segoe UI"/>
              </a:rPr>
              <a:t>Also planned: true publication timestamps, local traffic and road-condition data, surge-aware calibration, equity monitoring, and testing weather in the volume forecast (appendix A3).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8686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070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EB6834"/>
                </a:solidFill>
                <a:latin typeface="Segoe UI Semibold"/>
              </a:rPr>
              <a:t>APPENDIX A1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88136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700">
                <a:solidFill>
                  <a:srgbClr val="0B0B0B"/>
                </a:solidFill>
                <a:latin typeface="Segoe UI Semibold"/>
              </a:rPr>
              <a:t>Capture under four definitions, 1% capacity (95% CI)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>
                <a:solidFill>
                  <a:srgbClr val="898781"/>
                </a:solidFill>
                <a:latin typeface="Segoe UI"/>
              </a:rPr>
              <a:t>RoadWatch · OxHack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>
                <a:solidFill>
                  <a:srgbClr val="898781"/>
                </a:solidFill>
                <a:latin typeface="Segoe U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419088"/>
            <a:ext cx="80467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900">
                <a:solidFill>
                  <a:srgbClr val="898781"/>
                </a:solidFill>
                <a:latin typeface="Segoe UI"/>
              </a:rPr>
              <a:t>Source: outputs/stage5/capture_definitions.csv (Stage 7); validation = Jan–Jun 2025, test = Jul 2025 – Oct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691640"/>
          <a:ext cx="10881360" cy="20299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566160"/>
                <a:gridCol w="1828800"/>
                <a:gridCol w="1828800"/>
                <a:gridCol w="1828800"/>
                <a:gridCol w="1828800"/>
              </a:tblGrid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0B0B0B"/>
                          </a:solidFill>
                          <a:latin typeface="Segoe UI Semibold"/>
                        </a:rPr>
                        <a:t>Test weeks</a:t>
                      </a:r>
                    </a:p>
                  </a:txBody>
                  <a:tcPr marL="73152" marR="73152" marT="27432" marB="27432" anchor="ctr">
                    <a:solidFill>
                      <a:srgbClr val="F4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0B0B0B"/>
                          </a:solidFill>
                          <a:latin typeface="Segoe UI Semibold"/>
                        </a:rPr>
                        <a:t>Fractional (expected)</a:t>
                      </a:r>
                    </a:p>
                  </a:txBody>
                  <a:tcPr marL="73152" marR="73152" marT="27432" marB="27432" anchor="ctr">
                    <a:solidFill>
                      <a:srgbClr val="F4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>
                          <a:solidFill>
                            <a:srgbClr val="0B0B0B"/>
                          </a:solidFill>
                          <a:latin typeface="Segoe UI Semibold"/>
                        </a:rPr>
                        <a:t>Assigned block</a:t>
                      </a:r>
                    </a:p>
                  </a:txBody>
                  <a:tcPr marL="73152" marR="73152" marT="27432" marB="27432" anchor="ctr">
                    <a:solidFill>
                      <a:srgbClr val="F4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>
                          <a:solidFill>
                            <a:srgbClr val="0B0B0B"/>
                          </a:solidFill>
                          <a:latin typeface="Segoe UI Semibold"/>
                        </a:rPr>
                        <a:t>Intersection-node</a:t>
                      </a:r>
                    </a:p>
                  </a:txBody>
                  <a:tcPr marL="73152" marR="73152" marT="27432" marB="27432" anchor="ctr">
                    <a:solidFill>
                      <a:srgbClr val="F4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>
                          <a:solidFill>
                            <a:srgbClr val="0B0B0B"/>
                          </a:solidFill>
                          <a:latin typeface="Segoe UI Semibold"/>
                        </a:rPr>
                        <a:t>Any candidate</a:t>
                      </a:r>
                    </a:p>
                  </a:txBody>
                  <a:tcPr marL="73152" marR="73152" marT="27432" marB="27432" anchor="ctr">
                    <a:solidFill>
                      <a:srgbClr val="F4F3E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0B0B0B"/>
                          </a:solidFill>
                          <a:latin typeface="Segoe UI Semibold"/>
                        </a:rPr>
                        <a:t>Strict single-block top-K (default)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>
                          <a:solidFill>
                            <a:srgbClr val="0B0B0B"/>
                          </a:solidFill>
                          <a:latin typeface="Segoe UI Semibold"/>
                        </a:rPr>
                        <a:t>13.5% (12.5–14.5)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>
                          <a:solidFill>
                            <a:srgbClr val="0B0B0B"/>
                          </a:solidFill>
                          <a:latin typeface="Segoe UI Semibold"/>
                        </a:rPr>
                        <a:t>13.4% (12.5–14.4)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>
                          <a:solidFill>
                            <a:srgbClr val="0B0B0B"/>
                          </a:solidFill>
                          <a:latin typeface="Segoe UI Semibold"/>
                        </a:rPr>
                        <a:t>16.4% (15.3–17.5)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>
                          <a:solidFill>
                            <a:srgbClr val="0B0B0B"/>
                          </a:solidFill>
                          <a:latin typeface="Segoe UI Semibold"/>
                        </a:rPr>
                        <a:t>17.0% (16.0–18.1)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52514E"/>
                          </a:solidFill>
                          <a:latin typeface="Segoe UI"/>
                        </a:rPr>
                        <a:t>Strict single-block + non-adjacent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>
                          <a:solidFill>
                            <a:srgbClr val="52514E"/>
                          </a:solidFill>
                          <a:latin typeface="Segoe UI"/>
                        </a:rPr>
                        <a:t>12.3% (11.5–13.2)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>
                          <a:solidFill>
                            <a:srgbClr val="52514E"/>
                          </a:solidFill>
                          <a:latin typeface="Segoe UI"/>
                        </a:rPr>
                        <a:t>12.3% (11.6–13.2)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>
                          <a:solidFill>
                            <a:srgbClr val="52514E"/>
                          </a:solidFill>
                          <a:latin typeface="Segoe UI"/>
                        </a:rPr>
                        <a:t>17.3% (16.3–18.4)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>
                          <a:solidFill>
                            <a:srgbClr val="52514E"/>
                          </a:solidFill>
                          <a:latin typeface="Segoe UI"/>
                        </a:rPr>
                        <a:t>18.3% (17.2–19.6)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52514E"/>
                          </a:solidFill>
                          <a:latin typeface="Segoe UI"/>
                        </a:rPr>
                        <a:t>Multi-block + non-adjacent (Stage 5 list)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>
                          <a:solidFill>
                            <a:srgbClr val="52514E"/>
                          </a:solidFill>
                          <a:latin typeface="Segoe UI"/>
                        </a:rPr>
                        <a:t>11.3% (10.6–12.1)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>
                          <a:solidFill>
                            <a:srgbClr val="52514E"/>
                          </a:solidFill>
                          <a:latin typeface="Segoe UI"/>
                        </a:rPr>
                        <a:t>11.2% (10.4–11.9)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>
                          <a:solidFill>
                            <a:srgbClr val="52514E"/>
                          </a:solidFill>
                          <a:latin typeface="Segoe UI"/>
                        </a:rPr>
                        <a:t>17.3% (16.3–18.4)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>
                          <a:solidFill>
                            <a:srgbClr val="52514E"/>
                          </a:solidFill>
                          <a:latin typeface="Segoe UI"/>
                        </a:rPr>
                        <a:t>18.5% (17.4–19.7)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52514E"/>
                          </a:solidFill>
                          <a:latin typeface="Segoe UI"/>
                        </a:rPr>
                        <a:t>Plain top-K multi-block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>
                          <a:solidFill>
                            <a:srgbClr val="52514E"/>
                          </a:solidFill>
                          <a:latin typeface="Segoe UI"/>
                        </a:rPr>
                        <a:t>12.8% (11.8–13.9)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>
                          <a:solidFill>
                            <a:srgbClr val="52514E"/>
                          </a:solidFill>
                          <a:latin typeface="Segoe UI"/>
                        </a:rPr>
                        <a:t>12.8% (11.8–13.9)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>
                          <a:solidFill>
                            <a:srgbClr val="52514E"/>
                          </a:solidFill>
                          <a:latin typeface="Segoe UI"/>
                        </a:rPr>
                        <a:t>15.5% (14.5–16.7)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>
                          <a:solidFill>
                            <a:srgbClr val="52514E"/>
                          </a:solidFill>
                          <a:latin typeface="Segoe UI"/>
                        </a:rPr>
                        <a:t>16.2% (15.2–17.4)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52514E"/>
                          </a:solidFill>
                          <a:latin typeface="Segoe UI"/>
                        </a:rPr>
                        <a:t>Historical-rate baseline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>
                          <a:solidFill>
                            <a:srgbClr val="52514E"/>
                          </a:solidFill>
                          <a:latin typeface="Segoe UI"/>
                        </a:rPr>
                        <a:t>8.4% (7.8–9.1)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>
                          <a:solidFill>
                            <a:srgbClr val="52514E"/>
                          </a:solidFill>
                          <a:latin typeface="Segoe UI"/>
                        </a:rPr>
                        <a:t>8.4% (7.7–9.0)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>
                          <a:solidFill>
                            <a:srgbClr val="52514E"/>
                          </a:solidFill>
                          <a:latin typeface="Segoe UI"/>
                        </a:rPr>
                        <a:t>10.8% (10.0–11.6)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>
                          <a:solidFill>
                            <a:srgbClr val="52514E"/>
                          </a:solidFill>
                          <a:latin typeface="Segoe UI"/>
                        </a:rPr>
                        <a:t>11.5% (10.5–12.4)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" y="4023360"/>
          <a:ext cx="10881360" cy="16916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566160"/>
                <a:gridCol w="1828800"/>
                <a:gridCol w="1828800"/>
                <a:gridCol w="1828800"/>
                <a:gridCol w="1828800"/>
              </a:tblGrid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0B0B0B"/>
                          </a:solidFill>
                          <a:latin typeface="Segoe UI Semibold"/>
                        </a:rPr>
                        <a:t>Validation weeks</a:t>
                      </a:r>
                    </a:p>
                  </a:txBody>
                  <a:tcPr marL="73152" marR="73152" marT="27432" marB="27432" anchor="ctr">
                    <a:solidFill>
                      <a:srgbClr val="F4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0B0B0B"/>
                          </a:solidFill>
                          <a:latin typeface="Segoe UI Semibold"/>
                        </a:rPr>
                        <a:t>Fractional (expected)</a:t>
                      </a:r>
                    </a:p>
                  </a:txBody>
                  <a:tcPr marL="73152" marR="73152" marT="27432" marB="27432" anchor="ctr">
                    <a:solidFill>
                      <a:srgbClr val="F4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>
                          <a:solidFill>
                            <a:srgbClr val="0B0B0B"/>
                          </a:solidFill>
                          <a:latin typeface="Segoe UI Semibold"/>
                        </a:rPr>
                        <a:t>Assigned block</a:t>
                      </a:r>
                    </a:p>
                  </a:txBody>
                  <a:tcPr marL="73152" marR="73152" marT="27432" marB="27432" anchor="ctr">
                    <a:solidFill>
                      <a:srgbClr val="F4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>
                          <a:solidFill>
                            <a:srgbClr val="0B0B0B"/>
                          </a:solidFill>
                          <a:latin typeface="Segoe UI Semibold"/>
                        </a:rPr>
                        <a:t>Intersection-node</a:t>
                      </a:r>
                    </a:p>
                  </a:txBody>
                  <a:tcPr marL="73152" marR="73152" marT="27432" marB="27432" anchor="ctr">
                    <a:solidFill>
                      <a:srgbClr val="F4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>
                          <a:solidFill>
                            <a:srgbClr val="0B0B0B"/>
                          </a:solidFill>
                          <a:latin typeface="Segoe UI Semibold"/>
                        </a:rPr>
                        <a:t>Any candidate</a:t>
                      </a:r>
                    </a:p>
                  </a:txBody>
                  <a:tcPr marL="73152" marR="73152" marT="27432" marB="27432" anchor="ctr">
                    <a:solidFill>
                      <a:srgbClr val="F4F3E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0B0B0B"/>
                          </a:solidFill>
                          <a:latin typeface="Segoe UI Semibold"/>
                        </a:rPr>
                        <a:t>Strict single-block top-K (default)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>
                          <a:solidFill>
                            <a:srgbClr val="0B0B0B"/>
                          </a:solidFill>
                          <a:latin typeface="Segoe UI Semibold"/>
                        </a:rPr>
                        <a:t>9.7% (8.4–10.9)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>
                          <a:solidFill>
                            <a:srgbClr val="0B0B0B"/>
                          </a:solidFill>
                          <a:latin typeface="Segoe UI Semibold"/>
                        </a:rPr>
                        <a:t>9.7% (8.4–10.9)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>
                          <a:solidFill>
                            <a:srgbClr val="0B0B0B"/>
                          </a:solidFill>
                          <a:latin typeface="Segoe UI Semibold"/>
                        </a:rPr>
                        <a:t>13.2% (11.7–14.7)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>
                          <a:solidFill>
                            <a:srgbClr val="0B0B0B"/>
                          </a:solidFill>
                          <a:latin typeface="Segoe UI Semibold"/>
                        </a:rPr>
                        <a:t>13.9% (12.5–15.4)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52514E"/>
                          </a:solidFill>
                          <a:latin typeface="Segoe UI"/>
                        </a:rPr>
                        <a:t>Strict single-block + non-adjacent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>
                          <a:solidFill>
                            <a:srgbClr val="52514E"/>
                          </a:solidFill>
                          <a:latin typeface="Segoe UI"/>
                        </a:rPr>
                        <a:t>9.0% (8.0–10.0)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>
                          <a:solidFill>
                            <a:srgbClr val="52514E"/>
                          </a:solidFill>
                          <a:latin typeface="Segoe UI"/>
                        </a:rPr>
                        <a:t>8.9% (7.9–10.0)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>
                          <a:solidFill>
                            <a:srgbClr val="52514E"/>
                          </a:solidFill>
                          <a:latin typeface="Segoe UI"/>
                        </a:rPr>
                        <a:t>13.8% (12.4–15.3)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>
                          <a:solidFill>
                            <a:srgbClr val="52514E"/>
                          </a:solidFill>
                          <a:latin typeface="Segoe UI"/>
                        </a:rPr>
                        <a:t>14.7% (13.1–16.1)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52514E"/>
                          </a:solidFill>
                          <a:latin typeface="Segoe UI"/>
                        </a:rPr>
                        <a:t>Multi-block + non-adjacent (Stage 5 list)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>
                          <a:solidFill>
                            <a:srgbClr val="52514E"/>
                          </a:solidFill>
                          <a:latin typeface="Segoe UI"/>
                        </a:rPr>
                        <a:t>8.3% (7.4–9.2)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>
                          <a:solidFill>
                            <a:srgbClr val="52514E"/>
                          </a:solidFill>
                          <a:latin typeface="Segoe UI"/>
                        </a:rPr>
                        <a:t>8.1% (7.3–9.0)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>
                          <a:solidFill>
                            <a:srgbClr val="52514E"/>
                          </a:solidFill>
                          <a:latin typeface="Segoe UI"/>
                        </a:rPr>
                        <a:t>13.9% (12.5–15.3)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>
                          <a:solidFill>
                            <a:srgbClr val="52514E"/>
                          </a:solidFill>
                          <a:latin typeface="Segoe UI"/>
                        </a:rPr>
                        <a:t>15.0% (13.4–16.4)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52514E"/>
                          </a:solidFill>
                          <a:latin typeface="Segoe UI"/>
                        </a:rPr>
                        <a:t>Plain top-K multi-block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>
                          <a:solidFill>
                            <a:srgbClr val="52514E"/>
                          </a:solidFill>
                          <a:latin typeface="Segoe UI"/>
                        </a:rPr>
                        <a:t>8.6% (7.4–9.5)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>
                          <a:solidFill>
                            <a:srgbClr val="52514E"/>
                          </a:solidFill>
                          <a:latin typeface="Segoe UI"/>
                        </a:rPr>
                        <a:t>8.4% (7.3–9.5)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>
                          <a:solidFill>
                            <a:srgbClr val="52514E"/>
                          </a:solidFill>
                          <a:latin typeface="Segoe UI"/>
                        </a:rPr>
                        <a:t>11.6% (10.2–12.9)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>
                          <a:solidFill>
                            <a:srgbClr val="52514E"/>
                          </a:solidFill>
                          <a:latin typeface="Segoe UI"/>
                        </a:rPr>
                        <a:t>12.3% (10.7–13.6)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8686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070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EB6834"/>
                </a:solidFill>
                <a:latin typeface="Segoe UI Semibold"/>
              </a:rPr>
              <a:t>APPENDIX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88136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700">
                <a:solidFill>
                  <a:srgbClr val="0B0B0B"/>
                </a:solidFill>
                <a:latin typeface="Segoe UI Semibold"/>
              </a:rPr>
              <a:t>Why the non-adjacent 'gain' depends on an assumption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>
                <a:solidFill>
                  <a:srgbClr val="898781"/>
                </a:solidFill>
                <a:latin typeface="Segoe UI"/>
              </a:rPr>
              <a:t>RoadWatch · OxHack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>
                <a:solidFill>
                  <a:srgbClr val="898781"/>
                </a:solidFill>
                <a:latin typeface="Segoe U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419088"/>
            <a:ext cx="80467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900">
                <a:solidFill>
                  <a:srgbClr val="898781"/>
                </a:solidFill>
                <a:latin typeface="Segoe UI"/>
              </a:rPr>
              <a:t>Source: outputs/stage7_scratch_eval/decomposition_1pct.csv; outputs/stage5/capture_definitions.csv; docs/stage7_audit_report.md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783080"/>
          <a:ext cx="6675120" cy="21945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383280"/>
                <a:gridCol w="1097280"/>
                <a:gridCol w="1097280"/>
                <a:gridCol w="1097280"/>
              </a:tblGrid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B0B0B"/>
                          </a:solidFill>
                          <a:latin typeface="Segoe UI Semibold"/>
                        </a:rPr>
                        <a:t>Multi-block non-adjacent list minus plain top-K (reports, test, 1%)</a:t>
                      </a:r>
                    </a:p>
                  </a:txBody>
                  <a:tcPr marL="73152" marR="73152" marT="27432" marB="27432" anchor="ctr">
                    <a:solidFill>
                      <a:srgbClr val="F4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B0B0B"/>
                          </a:solidFill>
                          <a:latin typeface="Segoe UI Semibold"/>
                        </a:rPr>
                        <a:t>Any candidate</a:t>
                      </a:r>
                    </a:p>
                  </a:txBody>
                  <a:tcPr marL="73152" marR="73152" marT="27432" marB="27432" anchor="ctr">
                    <a:solidFill>
                      <a:srgbClr val="F4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B0B0B"/>
                          </a:solidFill>
                          <a:latin typeface="Segoe UI Semibold"/>
                        </a:rPr>
                        <a:t>Assigned block</a:t>
                      </a:r>
                    </a:p>
                  </a:txBody>
                  <a:tcPr marL="73152" marR="73152" marT="27432" marB="27432" anchor="ctr">
                    <a:solidFill>
                      <a:srgbClr val="F4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B0B0B"/>
                          </a:solidFill>
                          <a:latin typeface="Segoe UI Semibold"/>
                        </a:rPr>
                        <a:t>Fractional</a:t>
                      </a:r>
                    </a:p>
                  </a:txBody>
                  <a:tcPr marL="73152" marR="73152" marT="27432" marB="27432" anchor="ctr">
                    <a:solidFill>
                      <a:srgbClr val="F4F3E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52514E"/>
                          </a:solidFill>
                          <a:latin typeface="Segoe UI"/>
                        </a:rPr>
                        <a:t>Reports with one candidate block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52514E"/>
                          </a:solidFill>
                          <a:latin typeface="Segoe UI"/>
                        </a:rPr>
                        <a:t>+84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52514E"/>
                          </a:solidFill>
                          <a:latin typeface="Segoe UI"/>
                        </a:rPr>
                        <a:t>+84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52514E"/>
                          </a:solidFill>
                          <a:latin typeface="Segoe UI"/>
                        </a:rPr>
                        <a:t>+84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52514E"/>
                          </a:solidFill>
                          <a:latin typeface="Segoe UI"/>
                        </a:rPr>
                        <a:t>Ambiguous intersection reports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52514E"/>
                          </a:solidFill>
                          <a:latin typeface="Segoe UI"/>
                        </a:rPr>
                        <a:t>+275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52514E"/>
                          </a:solidFill>
                          <a:latin typeface="Segoe UI"/>
                        </a:rPr>
                        <a:t>−321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52514E"/>
                          </a:solidFill>
                          <a:latin typeface="Segoe UI"/>
                        </a:rPr>
                        <a:t>−291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52514E"/>
                          </a:solidFill>
                          <a:latin typeface="Segoe UI"/>
                        </a:rPr>
                        <a:t>Ambiguous blockface / other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52514E"/>
                          </a:solidFill>
                          <a:latin typeface="Segoe UI"/>
                        </a:rPr>
                        <a:t>+30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52514E"/>
                          </a:solidFill>
                          <a:latin typeface="Segoe UI"/>
                        </a:rPr>
                        <a:t>−40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52514E"/>
                          </a:solidFill>
                          <a:latin typeface="Segoe UI"/>
                        </a:rPr>
                        <a:t>−34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B0B0B"/>
                          </a:solidFill>
                          <a:latin typeface="Segoe UI Semibold"/>
                        </a:rPr>
                        <a:t>Total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B0B0B"/>
                          </a:solidFill>
                          <a:latin typeface="Segoe UI Semibold"/>
                        </a:rPr>
                        <a:t>+389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B0B0B"/>
                          </a:solidFill>
                          <a:latin typeface="Segoe UI Semibold"/>
                        </a:rPr>
                        <a:t>−277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B0B0B"/>
                          </a:solidFill>
                          <a:latin typeface="Segoe UI Semibold"/>
                        </a:rPr>
                        <a:t>−241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4206240"/>
            <a:ext cx="6675120" cy="2011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52514E"/>
                </a:solidFill>
                <a:latin typeface="Segoe UI"/>
              </a:rPr>
              <a:t>Never listing two blocks that share an intersection raises 'any candidate' capture (+2.3 pp) because one inspection is credited with every candidate block of an intersection report. Under expected (fractional) capture the same lists lose (−1.4 pp; paired 95% CI −2.1 to −0.9 pp).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18120" y="1783080"/>
            <a:ext cx="4023360" cy="1691640"/>
          </a:xfrm>
          <a:prstGeom prst="rect">
            <a:avLst/>
          </a:prstGeom>
          <a:solidFill>
            <a:srgbClr val="FFF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783080"/>
            <a:ext cx="64008" cy="1691640"/>
          </a:xfrm>
          <a:prstGeom prst="rect">
            <a:avLst/>
          </a:prstGeom>
          <a:solidFill>
            <a:srgbClr val="FAB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1856231"/>
            <a:ext cx="3749040" cy="15819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350">
                <a:solidFill>
                  <a:srgbClr val="0B0B0B"/>
                </a:solidFill>
                <a:latin typeface="Segoe UI Semibold"/>
              </a:rPr>
              <a:t>Disclosure</a:t>
            </a:r>
          </a:p>
          <a:p>
            <a:pPr algn="l">
              <a:spcAft>
                <a:spcPts val="200"/>
              </a:spcAft>
            </a:pPr>
            <a:r>
              <a:rPr sz="1250">
                <a:solidFill>
                  <a:srgbClr val="52514E"/>
                </a:solidFill>
                <a:latin typeface="Segoe UI"/>
              </a:rPr>
              <a:t>The non-adjacent rule was written after test-period top-K results existed. Its validation 'confirmation' was therefore not independent, and its advantage is treated as an unconfirmed hypothesis.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18120" y="3703320"/>
            <a:ext cx="4023360" cy="1371600"/>
          </a:xfrm>
          <a:prstGeom prst="rect">
            <a:avLst/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18120" y="3703320"/>
            <a:ext cx="64008" cy="13716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3776472"/>
            <a:ext cx="3749040" cy="12618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350">
                <a:solidFill>
                  <a:srgbClr val="0B0B0B"/>
                </a:solidFill>
                <a:latin typeface="Segoe UI Semibold"/>
              </a:rPr>
              <a:t>Default choice</a:t>
            </a:r>
          </a:p>
          <a:p>
            <a:pPr algn="l">
              <a:spcAft>
                <a:spcPts val="200"/>
              </a:spcAft>
            </a:pPr>
            <a:r>
              <a:rPr sz="1250">
                <a:solidFill>
                  <a:srgbClr val="52514E"/>
                </a:solidFill>
                <a:latin typeface="Segoe UI"/>
              </a:rPr>
              <a:t>Strict single-block top-K: best under expected capture and never worse than plain top-K under any definition (test, fractional +0.2 to +1.1 pp).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8686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070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EB6834"/>
                </a:solidFill>
                <a:latin typeface="Segoe UI Semibold"/>
              </a:rPr>
              <a:t>APPENDIX A3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88136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700">
                <a:solidFill>
                  <a:srgbClr val="0B0B0B"/>
                </a:solidFill>
                <a:latin typeface="Segoe UI Semibold"/>
              </a:rPr>
              <a:t>Improvement roadmap: data, implementation and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>
                <a:solidFill>
                  <a:srgbClr val="898781"/>
                </a:solidFill>
                <a:latin typeface="Segoe UI"/>
              </a:rPr>
              <a:t>RoadWatch · OxHack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>
                <a:solidFill>
                  <a:srgbClr val="898781"/>
                </a:solidFill>
                <a:latin typeface="Segoe U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419088"/>
            <a:ext cx="80467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900">
                <a:solidFill>
                  <a:srgbClr val="898781"/>
                </a:solidFill>
                <a:latin typeface="Segoe UI"/>
              </a:rPr>
              <a:t>Source: Proposals only; none of these outcomes has been measured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691640"/>
          <a:ext cx="10881360" cy="460857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423160"/>
                <a:gridCol w="2834640"/>
                <a:gridCol w="3108960"/>
                <a:gridCol w="2514600"/>
              </a:tblGrid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0B0B0B"/>
                          </a:solidFill>
                          <a:latin typeface="Segoe UI Semibold"/>
                        </a:rPr>
                        <a:t>Improvement</a:t>
                      </a:r>
                    </a:p>
                  </a:txBody>
                  <a:tcPr marL="73152" marR="73152" marT="27432" marB="27432" anchor="ctr">
                    <a:solidFill>
                      <a:srgbClr val="F4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0B0B0B"/>
                          </a:solidFill>
                          <a:latin typeface="Segoe UI Semibold"/>
                        </a:rPr>
                        <a:t>Data needed</a:t>
                      </a:r>
                    </a:p>
                  </a:txBody>
                  <a:tcPr marL="73152" marR="73152" marT="27432" marB="27432" anchor="ctr">
                    <a:solidFill>
                      <a:srgbClr val="F4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0B0B0B"/>
                          </a:solidFill>
                          <a:latin typeface="Segoe UI Semibold"/>
                        </a:rPr>
                        <a:t>Proposed implementation</a:t>
                      </a:r>
                    </a:p>
                  </a:txBody>
                  <a:tcPr marL="73152" marR="73152" marT="27432" marB="27432" anchor="ctr">
                    <a:solidFill>
                      <a:srgbClr val="F4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0B0B0B"/>
                          </a:solidFill>
                          <a:latin typeface="Segoe UI Semibold"/>
                        </a:rPr>
                        <a:t>Evaluation metric</a:t>
                      </a:r>
                    </a:p>
                  </a:txBody>
                  <a:tcPr marL="73152" marR="73152" marT="27432" marB="27432" anchor="ctr">
                    <a:solidFill>
                      <a:srgbClr val="F4F3E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52514E"/>
                          </a:solidFill>
                          <a:latin typeface="Segoe UI"/>
                        </a:rPr>
                        <a:t>Inspection outcomes and severity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52514E"/>
                          </a:solidFill>
                          <a:latin typeface="Segoe UI"/>
                        </a:rPr>
                        <a:t>found / not found, severity, repair date per inspected block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52514E"/>
                          </a:solidFill>
                          <a:latin typeface="Segoe UI"/>
                        </a:rPr>
                        <a:t>outcome columns in exported worklists; retrain on verified defects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52514E"/>
                          </a:solidFill>
                          <a:latin typeface="Segoe UI"/>
                        </a:rPr>
                        <a:t>defects per 100 inspections; severity-weighted capture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52514E"/>
                          </a:solidFill>
                          <a:latin typeface="Segoe UI"/>
                        </a:rPr>
                        <a:t>Intersection location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52514E"/>
                          </a:solidFill>
                          <a:latin typeface="Segoe UI"/>
                        </a:rPr>
                        <a:t>GPS or photo per report; inspector GPS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52514E"/>
                          </a:solidFill>
                          <a:latin typeface="Segoe UI"/>
                        </a:rPr>
                        <a:t>snap to nearest block leg; learn leg from outcomes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52514E"/>
                          </a:solidFill>
                          <a:latin typeface="Segoe UI"/>
                        </a:rPr>
                        <a:t>share uniquely located; any-vs-fractional gap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52514E"/>
                          </a:solidFill>
                          <a:latin typeface="Segoe UI"/>
                        </a:rPr>
                        <a:t>Publication timestamps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52514E"/>
                          </a:solidFill>
                          <a:latin typeface="Segoe UI"/>
                        </a:rPr>
                        <a:t>daily API snapshots (:created_at, :updated_at)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52514E"/>
                          </a:solidFill>
                          <a:latin typeface="Segoe UI"/>
                        </a:rPr>
                        <a:t>scheduled ingest; measure per-record availability lag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52514E"/>
                          </a:solidFill>
                          <a:latin typeface="Segoe UI"/>
                        </a:rPr>
                        <a:t>lag distribution; backtest with true as-of data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52514E"/>
                          </a:solidFill>
                          <a:latin typeface="Segoe UI"/>
                        </a:rPr>
                        <a:t>Traffic, weather, road condition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52514E"/>
                          </a:solidFill>
                          <a:latin typeface="Segoe UI"/>
                        </a:rPr>
                        <a:t>traffic counts, more stations, pavement ratings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52514E"/>
                          </a:solidFill>
                          <a:latin typeface="Segoe UI"/>
                        </a:rPr>
                        <a:t>add point-in-time features; validation-only selection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52514E"/>
                          </a:solidFill>
                          <a:latin typeface="Segoe UI"/>
                        </a:rPr>
                        <a:t>paired change in precision@1% and AP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52514E"/>
                          </a:solidFill>
                          <a:latin typeface="Segoe UI"/>
                        </a:rPr>
                        <a:t>Surge handling and calibration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52514E"/>
                          </a:solidFill>
                          <a:latin typeface="Segoe UI"/>
                        </a:rPr>
                        <a:t>recent weekly totals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52514E"/>
                          </a:solidFill>
                          <a:latin typeface="Segoe UI"/>
                        </a:rPr>
                        <a:t>weekly recalibration; drift alert on predicted/observed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52514E"/>
                          </a:solidFill>
                          <a:latin typeface="Segoe UI"/>
                        </a:rPr>
                        <a:t>monthly calibration ratio near 1; Brier score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52514E"/>
                          </a:solidFill>
                          <a:latin typeface="Segoe UI"/>
                        </a:rPr>
                        <a:t>Reporting equity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52514E"/>
                          </a:solidFill>
                          <a:latin typeface="Segoe UI"/>
                        </a:rPr>
                        <a:t>community-board areas, independent condition data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52514E"/>
                          </a:solidFill>
                          <a:latin typeface="Segoe UI"/>
                        </a:rPr>
                        <a:t>coverage panel; optional minimum coverage per area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52514E"/>
                          </a:solidFill>
                          <a:latin typeface="Segoe UI"/>
                        </a:rPr>
                        <a:t>inspections and defects found per area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52514E"/>
                          </a:solidFill>
                          <a:latin typeface="Segoe UI"/>
                        </a:rPr>
                        <a:t>Weather in volume forecast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52514E"/>
                          </a:solidFill>
                          <a:latin typeface="Segoe UI"/>
                        </a:rPr>
                        <a:t>NOAA daily and forecast weather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52514E"/>
                          </a:solidFill>
                          <a:latin typeface="Segoe UI"/>
                        </a:rPr>
                        <a:t>extend the tested weather feature set; walk-forward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52514E"/>
                          </a:solidFill>
                          <a:latin typeface="Segoe UI"/>
                        </a:rPr>
                        <a:t>MAE vs 'same as last week' with paired CI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52514E"/>
                          </a:solidFill>
                          <a:latin typeface="Segoe UI"/>
                        </a:rPr>
                        <a:t>Repair effectiveness and cost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52514E"/>
                          </a:solidFill>
                          <a:latin typeface="Segoe UI"/>
                        </a:rPr>
                        <a:t>repair cost, crew time, re-reports, claims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52514E"/>
                          </a:solidFill>
                          <a:latin typeface="Segoe UI"/>
                        </a:rPr>
                        <a:t>randomised or alternating trial vs current practice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52514E"/>
                          </a:solidFill>
                          <a:latin typeface="Segoe UI"/>
                        </a:rPr>
                        <a:t>cost per verified defect; time to repair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8686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070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EB6834"/>
                </a:solidFill>
                <a:latin typeface="Segoe UI Semibold"/>
              </a:rPr>
              <a:t>APPENDIX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88136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700">
                <a:solidFill>
                  <a:srgbClr val="0B0B0B"/>
                </a:solidFill>
                <a:latin typeface="Segoe UI Semibold"/>
              </a:rPr>
              <a:t>Reproducibility and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>
                <a:solidFill>
                  <a:srgbClr val="898781"/>
                </a:solidFill>
                <a:latin typeface="Segoe UI"/>
              </a:rPr>
              <a:t>RoadWatch · OxHack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>
                <a:solidFill>
                  <a:srgbClr val="898781"/>
                </a:solidFill>
                <a:latin typeface="Segoe U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6419088"/>
            <a:ext cx="80467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900">
                <a:solidFill>
                  <a:srgbClr val="898781"/>
                </a:solidFill>
                <a:latin typeface="Segoe UI"/>
              </a:rPr>
              <a:t>Source: outputs/stage7/reproducibility.json; outputs/final/verification/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789920" cy="4389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>
                <a:solidFill>
                  <a:srgbClr val="52514E"/>
                </a:solidFill>
                <a:latin typeface="Segoe UI"/>
              </a:rPr>
              <a:t>• </a:t>
            </a:r>
            <a:r>
              <a:rPr sz="1500">
                <a:solidFill>
                  <a:srgbClr val="52514E"/>
                </a:solidFill>
                <a:latin typeface="Segoe UI"/>
              </a:rPr>
              <a:t>Offline rebuild from archived raw snapshots: 8/8 processed tables, 18/18 label outputs and 6/6 feature files byte-identical.</a:t>
            </a:r>
          </a:p>
          <a:p>
            <a:pPr algn="l">
              <a:spcAft>
                <a:spcPts val="1000"/>
              </a:spcAft>
            </a:pPr>
            <a:r>
              <a:rPr sz="1500">
                <a:solidFill>
                  <a:srgbClr val="52514E"/>
                </a:solidFill>
                <a:latin typeface="Segoe UI"/>
              </a:rPr>
              <a:t>• </a:t>
            </a:r>
            <a:r>
              <a:rPr sz="1500">
                <a:solidFill>
                  <a:srgbClr val="52514E"/>
                </a:solidFill>
                <a:latin typeface="Segoe UI"/>
              </a:rPr>
              <a:t>Frozen LightGBM refits reproduce saved predictions exactly (maximum difference 0.0).</a:t>
            </a:r>
          </a:p>
          <a:p>
            <a:pPr algn="l">
              <a:spcAft>
                <a:spcPts val="1000"/>
              </a:spcAft>
            </a:pPr>
            <a:r>
              <a:rPr sz="1500">
                <a:solidFill>
                  <a:srgbClr val="52514E"/>
                </a:solidFill>
                <a:latin typeface="Segoe UI"/>
              </a:rPr>
              <a:t>• </a:t>
            </a:r>
            <a:r>
              <a:rPr sz="1500">
                <a:solidFill>
                  <a:srgbClr val="52514E"/>
                </a:solidFill>
                <a:latin typeface="Segoe UI"/>
              </a:rPr>
              <a:t>Leakage review: 311 lag of 2 days and NOAA lag of 5 days are exact; labels and IDs never enter a model; model selection was frozen before the first test prediction.</a:t>
            </a:r>
          </a:p>
          <a:p>
            <a:pPr algn="l">
              <a:spcAft>
                <a:spcPts val="1000"/>
              </a:spcAft>
            </a:pPr>
            <a:r>
              <a:rPr sz="1500">
                <a:solidFill>
                  <a:srgbClr val="52514E"/>
                </a:solidFill>
                <a:latin typeface="Segoe UI"/>
              </a:rPr>
              <a:t>• </a:t>
            </a:r>
            <a:r>
              <a:rPr sz="1500">
                <a:solidFill>
                  <a:srgbClr val="52514E"/>
                </a:solidFill>
                <a:latin typeface="Segoe UI"/>
              </a:rPr>
              <a:t>Automated pytest suite; every number in this deck is re-derived from saved files by scripts/final/verify_final.py.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52514E"/>
                </a:solidFill>
                <a:latin typeface="Segoe UI"/>
              </a:rPr>
              <a:t>• </a:t>
            </a:r>
            <a:r>
              <a:rPr sz="1500">
                <a:solidFill>
                  <a:srgbClr val="52514E"/>
                </a:solidFill>
                <a:latin typeface="Segoe UI"/>
              </a:rPr>
              <a:t>Dashboard checked in a real browser: downloads byte-identical to saved worklists; invalid input handled; map works offline without tiles.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